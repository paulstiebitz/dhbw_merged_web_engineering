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272" r:id="rId5"/>
    <p:sldId id="321" r:id="rId6"/>
    <p:sldId id="324" r:id="rId7"/>
    <p:sldId id="325" r:id="rId8"/>
    <p:sldId id="328" r:id="rId9"/>
    <p:sldId id="330" r:id="rId10"/>
    <p:sldId id="332" r:id="rId11"/>
    <p:sldId id="329" r:id="rId12"/>
    <p:sldId id="318" r:id="rId13"/>
    <p:sldId id="327" r:id="rId14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FEFEF"/>
    <a:srgbClr val="DF8C8C"/>
    <a:srgbClr val="AAC4E9"/>
    <a:srgbClr val="FDFBF6"/>
    <a:srgbClr val="F5CDCE"/>
    <a:srgbClr val="D4D593"/>
    <a:srgbClr val="E6F0FE"/>
    <a:srgbClr val="CDBE8A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676" y="11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37846" y="2438400"/>
            <a:ext cx="5158154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83569" y="2438400"/>
            <a:ext cx="5158154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DABC72-6EE4-7BFC-A301-7F4B47E3A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CC4AE-5D9E-475A-A675-5548E066AFF3}" type="datetime1">
              <a:rPr lang="de-DE"/>
              <a:pPr>
                <a:defRPr/>
              </a:pPr>
              <a:t>15.07.2026</a:t>
            </a:fld>
            <a:endParaRPr lang="de-DE" sz="140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763993-3900-C0EF-AE36-79E21763685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altLang="de-DE"/>
              <a:t>Seite </a:t>
            </a:r>
            <a:fld id="{21F0E155-C82C-442F-A557-18BD023CF1D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5018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 rtl="0"/>
              <a:t>‹Nr.›</a:t>
            </a:fld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  <p:sldLayoutId id="2147483693" r:id="rId18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D98942E0-2FCB-EF8D-529E-9D2E9B666C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sp>
        <p:nvSpPr>
          <p:cNvPr id="8196" name="Rectangle 7">
            <a:extLst>
              <a:ext uri="{FF2B5EF4-FFF2-40B4-BE49-F238E27FC236}">
                <a16:creationId xmlns:a16="http://schemas.microsoft.com/office/drawing/2014/main" id="{AC2E7FAF-D722-C28B-45C7-787AA405B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8952" y="2168435"/>
            <a:ext cx="10671048" cy="1362057"/>
          </a:xfrm>
        </p:spPr>
        <p:txBody>
          <a:bodyPr/>
          <a:lstStyle/>
          <a:p>
            <a:r>
              <a:rPr lang="de-DE" sz="4000"/>
              <a:t>Web Engineering </a:t>
            </a:r>
            <a:br>
              <a:rPr lang="de-DE" sz="4000"/>
            </a:br>
            <a:r>
              <a:rPr lang="de-DE" sz="4000"/>
              <a:t>Projekt</a:t>
            </a:r>
            <a:endParaRPr lang="de-DE" altLang="de-DE" sz="4000"/>
          </a:p>
        </p:txBody>
      </p:sp>
      <p:pic>
        <p:nvPicPr>
          <p:cNvPr id="3" name="Grafik 2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49FC585B-C559-CAE8-E88C-4294C6E4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6" y="344034"/>
            <a:ext cx="1952172" cy="81416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81E21CC-8D41-2CE0-CCF3-403DF0E15DBF}"/>
              </a:ext>
            </a:extLst>
          </p:cNvPr>
          <p:cNvSpPr txBox="1"/>
          <p:nvPr/>
        </p:nvSpPr>
        <p:spPr>
          <a:xfrm>
            <a:off x="3344487" y="3889433"/>
            <a:ext cx="550302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2000">
                <a:solidFill>
                  <a:schemeClr val="accent6"/>
                </a:solidFill>
                <a:latin typeface="Arial Narrow"/>
              </a:rPr>
              <a:t>Artmann Lara, </a:t>
            </a:r>
            <a:r>
              <a:rPr lang="de-DE" sz="2000" err="1">
                <a:solidFill>
                  <a:schemeClr val="accent6"/>
                </a:solidFill>
                <a:latin typeface="Arial Narrow"/>
              </a:rPr>
              <a:t>Lemmerth</a:t>
            </a:r>
            <a:r>
              <a:rPr lang="de-DE" sz="2000">
                <a:solidFill>
                  <a:schemeClr val="accent6"/>
                </a:solidFill>
                <a:latin typeface="Arial Narrow"/>
              </a:rPr>
              <a:t> Maximilian, Sixt Paul, Stiebitz Paul, Wedemann Fabian, Younan Marius</a:t>
            </a:r>
          </a:p>
          <a:p>
            <a:endParaRPr lang="de-DE" sz="2000">
              <a:cs typeface="Sabon Next 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AC90-6AA2-7735-BB84-ED0B09AC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4EBD6E0A-2A1A-A2FD-EE24-2DAF2D4C3F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pic>
        <p:nvPicPr>
          <p:cNvPr id="3" name="Grafik 2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3B05ADEF-6BF7-A2F1-0B54-71217149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5779634"/>
            <a:ext cx="1952172" cy="81416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29F7B51-C51C-574D-BF65-5C7EC657DC23}"/>
              </a:ext>
            </a:extLst>
          </p:cNvPr>
          <p:cNvSpPr txBox="1"/>
          <p:nvPr/>
        </p:nvSpPr>
        <p:spPr>
          <a:xfrm>
            <a:off x="682172" y="38100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i="0" u="none" strike="noStrike" cap="all" baseline="0">
                <a:solidFill>
                  <a:srgbClr val="1F2C8F"/>
                </a:solidFill>
                <a:latin typeface="Arial Black"/>
              </a:rPr>
              <a:t>Agenda</a:t>
            </a:r>
            <a:r>
              <a:rPr sz="3600" b="0" i="0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​</a:t>
            </a:r>
            <a:endParaRPr lang="de-DE"/>
          </a:p>
          <a:p>
            <a:pPr algn="ctr"/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48C6BC6-04F7-04B9-4369-F8C15303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8058" y="1600926"/>
            <a:ext cx="7657736" cy="3947571"/>
          </a:xfrm>
        </p:spPr>
        <p:txBody>
          <a:bodyPr vert="horz" lIns="91440" tIns="0" rIns="91440" bIns="0" rtlCol="0" anchor="t">
            <a:normAutofit fontScale="92500" lnSpcReduction="10000"/>
          </a:bodyPr>
          <a:lstStyle>
            <a:defPPr>
              <a:defRPr lang="de-DE"/>
            </a:defPPr>
          </a:lstStyle>
          <a:p>
            <a:pPr marL="347345" indent="-347345" rtl="0"/>
            <a:r>
              <a:rPr lang="de-DE">
                <a:latin typeface="Arial Narrow"/>
              </a:rPr>
              <a:t>Einführung</a:t>
            </a:r>
          </a:p>
          <a:p>
            <a:pPr marL="347345" indent="-347345"/>
            <a:endParaRPr lang="de-DE">
              <a:latin typeface="Arial Narrow"/>
            </a:endParaRPr>
          </a:p>
          <a:p>
            <a:pPr marL="347345" indent="-347345" rtl="0"/>
            <a:r>
              <a:rPr lang="de-DE">
                <a:latin typeface="Arial Narrow"/>
              </a:rPr>
              <a:t>Architektur &amp; Dokumentation</a:t>
            </a:r>
          </a:p>
          <a:p>
            <a:pPr marL="347345" indent="-347345"/>
            <a:endParaRPr lang="de-DE">
              <a:latin typeface="Arial Narrow"/>
            </a:endParaRPr>
          </a:p>
          <a:p>
            <a:pPr marL="347345" indent="-347345" rtl="0"/>
            <a:r>
              <a:rPr lang="de-DE">
                <a:latin typeface="Arial Narrow"/>
              </a:rPr>
              <a:t>Services &amp; Implementierung</a:t>
            </a:r>
          </a:p>
          <a:p>
            <a:pPr marL="347345" indent="-347345"/>
            <a:endParaRPr lang="de-DE">
              <a:latin typeface="Arial Narrow"/>
            </a:endParaRPr>
          </a:p>
          <a:p>
            <a:pPr marL="347345" indent="-347345" rtl="0"/>
            <a:r>
              <a:rPr lang="de-DE">
                <a:latin typeface="Arial Narrow"/>
              </a:rPr>
              <a:t>Live-Demo</a:t>
            </a:r>
          </a:p>
          <a:p>
            <a:pPr marL="347345" indent="-347345"/>
            <a:endParaRPr lang="de-DE">
              <a:latin typeface="Arial Narrow"/>
            </a:endParaRPr>
          </a:p>
          <a:p>
            <a:pPr marL="347345" indent="-347345" rtl="0"/>
            <a:r>
              <a:rPr lang="de-DE">
                <a:latin typeface="Arial Narrow"/>
              </a:rPr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156948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4501-0462-588E-417B-0891FEA1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2914CAE2-A30C-8D2A-56AC-9A353AB98D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pic>
        <p:nvPicPr>
          <p:cNvPr id="3" name="Grafik 2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C43ABCF7-98AE-09F6-0BA9-1B6625FB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5779634"/>
            <a:ext cx="1952172" cy="81416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0DC9A75-04AF-3FDD-48B3-98AA66198CD2}"/>
              </a:ext>
            </a:extLst>
          </p:cNvPr>
          <p:cNvSpPr txBox="1"/>
          <p:nvPr/>
        </p:nvSpPr>
        <p:spPr>
          <a:xfrm>
            <a:off x="682172" y="3810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600" b="1" cap="all">
                <a:solidFill>
                  <a:srgbClr val="1F2C8F"/>
                </a:solidFill>
                <a:latin typeface="Arial Black"/>
              </a:rPr>
              <a:t>AufgabeNbereiche</a:t>
            </a:r>
            <a:endParaRPr lang="de-DE" sz="3600">
              <a:latin typeface="Arial Black"/>
            </a:endParaRPr>
          </a:p>
          <a:p>
            <a:endParaRPr lang="de-DE" sz="3600">
              <a:latin typeface="Arial Black"/>
            </a:endParaRP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DD77008-026D-A16C-111A-6384E8C9E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8058" y="1586412"/>
            <a:ext cx="7657736" cy="5101456"/>
          </a:xfrm>
        </p:spPr>
        <p:txBody>
          <a:bodyPr vert="horz" lIns="91440" tIns="0" rIns="91440" bIns="0" rtlCol="0" anchor="t">
            <a:normAutofit fontScale="92500" lnSpcReduction="20000"/>
          </a:bodyPr>
          <a:lstStyle>
            <a:defPPr>
              <a:defRPr lang="de-DE"/>
            </a:defPPr>
          </a:lstStyle>
          <a:p>
            <a:pPr marL="347345" indent="-347345"/>
            <a:r>
              <a:rPr lang="de-DE" dirty="0">
                <a:latin typeface="Arial Narrow"/>
              </a:rPr>
              <a:t>Allgemeine Infrastruktur</a:t>
            </a:r>
          </a:p>
          <a:p>
            <a:pPr marL="347345" indent="-347345"/>
            <a:endParaRPr lang="de-DE" dirty="0">
              <a:latin typeface="Arial Narrow"/>
            </a:endParaRPr>
          </a:p>
          <a:p>
            <a:pPr marL="347345" indent="-347345"/>
            <a:r>
              <a:rPr lang="de-DE" dirty="0">
                <a:latin typeface="Arial Narrow"/>
              </a:rPr>
              <a:t>Authentifizierung</a:t>
            </a:r>
          </a:p>
          <a:p>
            <a:pPr marL="347345" indent="-347345"/>
            <a:endParaRPr lang="de-DE" dirty="0">
              <a:latin typeface="Arial Narrow"/>
            </a:endParaRPr>
          </a:p>
          <a:p>
            <a:pPr marL="347345" indent="-347345"/>
            <a:r>
              <a:rPr lang="de-DE" dirty="0">
                <a:latin typeface="Arial Narrow"/>
              </a:rPr>
              <a:t>Autorisierung</a:t>
            </a:r>
          </a:p>
          <a:p>
            <a:pPr marL="347345" indent="-347345"/>
            <a:endParaRPr lang="de-DE" dirty="0">
              <a:latin typeface="Arial Narrow"/>
            </a:endParaRPr>
          </a:p>
          <a:p>
            <a:pPr marL="347345" indent="-347345" rtl="0"/>
            <a:r>
              <a:rPr lang="de-DE" dirty="0">
                <a:latin typeface="Arial Narrow"/>
              </a:rPr>
              <a:t>Produktverwaltung</a:t>
            </a:r>
          </a:p>
          <a:p>
            <a:pPr marL="347345" indent="-347345"/>
            <a:endParaRPr lang="de-DE" dirty="0">
              <a:latin typeface="Arial Narrow"/>
            </a:endParaRPr>
          </a:p>
          <a:p>
            <a:pPr marL="347345" indent="-347345"/>
            <a:r>
              <a:rPr lang="de-DE" dirty="0">
                <a:latin typeface="Arial Narrow"/>
              </a:rPr>
              <a:t>Produktlogik für Kunden </a:t>
            </a:r>
          </a:p>
          <a:p>
            <a:pPr marL="347345" indent="-347345"/>
            <a:endParaRPr lang="de-DE" dirty="0">
              <a:latin typeface="Arial Narrow"/>
            </a:endParaRPr>
          </a:p>
          <a:p>
            <a:pPr marL="347345" indent="-347345"/>
            <a:r>
              <a:rPr lang="de-DE" dirty="0">
                <a:latin typeface="Arial Narrow"/>
              </a:rPr>
              <a:t>Wunschlisten</a:t>
            </a:r>
          </a:p>
          <a:p>
            <a:pPr marL="347345" indent="-347345"/>
            <a:endParaRPr lang="de-DE" dirty="0">
              <a:solidFill>
                <a:srgbClr val="1F2C8F"/>
              </a:solidFill>
              <a:latin typeface="Arial Narrow"/>
            </a:endParaRPr>
          </a:p>
          <a:p>
            <a:pPr marL="0" indent="0">
              <a:buNone/>
            </a:pPr>
            <a:endParaRPr lang="de-DE" sz="2000" dirty="0">
              <a:solidFill>
                <a:srgbClr val="FDFAF6"/>
              </a:solidFill>
              <a:latin typeface="Arial Narrow"/>
            </a:endParaRPr>
          </a:p>
          <a:p>
            <a:pPr marL="0" indent="0">
              <a:buNone/>
            </a:pPr>
            <a:r>
              <a:rPr lang="de-DE" sz="2000" dirty="0">
                <a:solidFill>
                  <a:srgbClr val="FDFAF6"/>
                </a:solidFill>
                <a:latin typeface="Arial Narrow"/>
              </a:rPr>
              <a:t>Wunschliste</a:t>
            </a:r>
            <a:endParaRPr lang="de-DE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4769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8129E-D26D-487A-75C1-C92AB332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DE3A0B0D-D2B4-B72D-F866-9BB7C5F13B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 dirty="0"/>
          </a:p>
        </p:txBody>
      </p:sp>
      <p:pic>
        <p:nvPicPr>
          <p:cNvPr id="3" name="Grafik 2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E70763D6-579A-4791-F79B-7EB7D0D43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5779634"/>
            <a:ext cx="1952172" cy="81416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D4B11A1-55D3-E79A-357E-6F99E770F4C1}"/>
              </a:ext>
            </a:extLst>
          </p:cNvPr>
          <p:cNvSpPr txBox="1"/>
          <p:nvPr/>
        </p:nvSpPr>
        <p:spPr>
          <a:xfrm>
            <a:off x="682172" y="3810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>
                <a:solidFill>
                  <a:srgbClr val="1F2C8F"/>
                </a:solidFill>
                <a:latin typeface="Arial Black"/>
              </a:rPr>
              <a:t>ProjektAufbau</a:t>
            </a:r>
            <a:endParaRPr lang="de-DE" sz="3600" cap="all">
              <a:solidFill>
                <a:srgbClr val="000000"/>
              </a:solidFill>
              <a:latin typeface="Arial Black"/>
            </a:endParaRPr>
          </a:p>
          <a:p>
            <a:pPr algn="ctr"/>
            <a:endParaRPr lang="de-DE" sz="3600" b="1" cap="all">
              <a:solidFill>
                <a:srgbClr val="1F2C8F"/>
              </a:solidFill>
              <a:latin typeface="Arial Black"/>
            </a:endParaRPr>
          </a:p>
        </p:txBody>
      </p:sp>
      <p:pic>
        <p:nvPicPr>
          <p:cNvPr id="7" name="Grafik 6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03A4A4E9-190C-46A8-B438-A45EE8C0C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740" y="1037772"/>
            <a:ext cx="2527014" cy="6052457"/>
          </a:xfrm>
          <a:prstGeom prst="rect">
            <a:avLst/>
          </a:prstGeom>
        </p:spPr>
      </p:pic>
      <p:pic>
        <p:nvPicPr>
          <p:cNvPr id="10" name="Grafik 9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0F56104C-A306-DFAF-E295-D0764093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24" y="1037772"/>
            <a:ext cx="2456543" cy="4228194"/>
          </a:xfrm>
          <a:prstGeom prst="rect">
            <a:avLst/>
          </a:prstGeom>
        </p:spPr>
      </p:pic>
      <p:pic>
        <p:nvPicPr>
          <p:cNvPr id="12" name="Grafik 11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B2C1EBD3-0FB5-03DF-9C28-7DFFEC64A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935" y="1037773"/>
            <a:ext cx="2333389" cy="5464629"/>
          </a:xfrm>
          <a:prstGeom prst="rect">
            <a:avLst/>
          </a:prstGeom>
        </p:spPr>
      </p:pic>
      <p:pic>
        <p:nvPicPr>
          <p:cNvPr id="13" name="Grafik 12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3D1DBC40-3583-7A6F-B43E-7D0F766B6B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44" y="1040946"/>
            <a:ext cx="2630714" cy="203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7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E530-2750-C3B5-AB14-BD46FD22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9C66E515-17ED-E338-D98E-F75F48EB05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0EFD313-D80D-A1F5-0BCF-FD3A7B4DD759}"/>
              </a:ext>
            </a:extLst>
          </p:cNvPr>
          <p:cNvSpPr txBox="1"/>
          <p:nvPr/>
        </p:nvSpPr>
        <p:spPr>
          <a:xfrm>
            <a:off x="377372" y="24765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 dirty="0">
                <a:solidFill>
                  <a:srgbClr val="1F2C8F"/>
                </a:solidFill>
                <a:latin typeface="Arial Black"/>
              </a:rPr>
              <a:t>Architektur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6853A0-75D9-0182-0E65-EF36BD452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0" y="969264"/>
            <a:ext cx="11665299" cy="554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97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3AEB5-82FA-2D60-7FAD-F4CD4B8B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BF891C7A-7774-D442-0D92-6CFF7CAD93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BDBC429-AA6C-C988-E413-96A129F7443A}"/>
              </a:ext>
            </a:extLst>
          </p:cNvPr>
          <p:cNvSpPr txBox="1"/>
          <p:nvPr/>
        </p:nvSpPr>
        <p:spPr>
          <a:xfrm>
            <a:off x="377372" y="24765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 dirty="0">
                <a:solidFill>
                  <a:srgbClr val="1F2C8F"/>
                </a:solidFill>
                <a:latin typeface="Arial Black"/>
              </a:rPr>
              <a:t>Architektur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0F3E210-A59C-4262-B76E-9BAF7312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71" y="1504987"/>
            <a:ext cx="11977246" cy="37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2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3199-ED75-314E-4613-4C06FCA92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6ABE2DD5-D4B1-7277-7D02-17E513B5D5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A4606D7-36EA-19F4-B886-D0CBA6CD440A}"/>
              </a:ext>
            </a:extLst>
          </p:cNvPr>
          <p:cNvSpPr txBox="1"/>
          <p:nvPr/>
        </p:nvSpPr>
        <p:spPr>
          <a:xfrm>
            <a:off x="377372" y="24765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 dirty="0">
                <a:solidFill>
                  <a:srgbClr val="1F2C8F"/>
                </a:solidFill>
                <a:latin typeface="Arial Black"/>
              </a:rPr>
              <a:t>Architektur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3DA6F8D-8712-AE46-830D-F9D1601C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452" y="860680"/>
            <a:ext cx="8769096" cy="574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2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F819-AAA2-42E2-0A7F-5579CB4FF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B68E9DE5-B493-C99D-099A-BC773345909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 dirty="0"/>
          </a:p>
        </p:txBody>
      </p:sp>
      <p:pic>
        <p:nvPicPr>
          <p:cNvPr id="3" name="Grafik 2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B84C7872-1AE9-910D-7EF3-6192C558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5779634"/>
            <a:ext cx="1952172" cy="81416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E1ACAE8-5B2D-55F1-2297-574C89F0B45C}"/>
              </a:ext>
            </a:extLst>
          </p:cNvPr>
          <p:cNvSpPr txBox="1"/>
          <p:nvPr/>
        </p:nvSpPr>
        <p:spPr>
          <a:xfrm>
            <a:off x="682172" y="381000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 dirty="0">
                <a:solidFill>
                  <a:srgbClr val="1F2C8F"/>
                </a:solidFill>
                <a:latin typeface="Arial Black"/>
              </a:rPr>
              <a:t>er-</a:t>
            </a:r>
            <a:r>
              <a:rPr lang="de-DE" sz="3600" b="1" cap="all" dirty="0" err="1">
                <a:solidFill>
                  <a:srgbClr val="1F2C8F"/>
                </a:solidFill>
                <a:latin typeface="Arial Black"/>
              </a:rPr>
              <a:t>dIAGRAMM</a:t>
            </a:r>
            <a:endParaRPr lang="de-DE" sz="3600" cap="all" dirty="0">
              <a:solidFill>
                <a:srgbClr val="000000"/>
              </a:solidFill>
              <a:latin typeface="Arial Black"/>
            </a:endParaRPr>
          </a:p>
          <a:p>
            <a:pPr algn="ctr"/>
            <a:endParaRPr lang="de-DE" sz="3600" b="1" cap="all" dirty="0">
              <a:solidFill>
                <a:srgbClr val="1F2C8F"/>
              </a:solidFill>
              <a:latin typeface="Arial Black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683DB73-35D0-E5C1-194D-2630F4614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28" y="1173132"/>
            <a:ext cx="11747746" cy="471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5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3BAB71-F182-9491-D13E-4C18FD317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>
            <a:normAutofit/>
          </a:bodyPr>
          <a:lstStyle/>
          <a:p>
            <a:r>
              <a:rPr lang="de-DE"/>
              <a:t>Live - Demo</a:t>
            </a:r>
          </a:p>
        </p:txBody>
      </p:sp>
    </p:spTree>
    <p:extLst>
      <p:ext uri="{BB962C8B-B14F-4D97-AF65-F5344CB8AC3E}">
        <p14:creationId xmlns:p14="http://schemas.microsoft.com/office/powerpoint/2010/main" val="206103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01D2-8293-B14B-F1EF-E2C2278B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umsplatzhalter 4">
            <a:extLst>
              <a:ext uri="{FF2B5EF4-FFF2-40B4-BE49-F238E27FC236}">
                <a16:creationId xmlns:a16="http://schemas.microsoft.com/office/drawing/2014/main" id="{BB8EEFC9-AB1A-C989-42BD-51F7536E7E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defTabSz="912813">
              <a:spcBef>
                <a:spcPct val="20000"/>
              </a:spcBef>
              <a:defRPr>
                <a:solidFill>
                  <a:srgbClr val="5C697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76FB038-E55A-4D09-B970-D9A4480F8BB5}" type="datetime1">
              <a:rPr lang="de-DE" altLang="de-DE" smtClean="0"/>
              <a:pPr>
                <a:spcBef>
                  <a:spcPct val="0"/>
                </a:spcBef>
              </a:pPr>
              <a:t>15.07.2026</a:t>
            </a:fld>
            <a:endParaRPr lang="de-DE" altLang="de-DE" sz="14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F29EEFE-2288-314A-12BE-D076D7666063}"/>
              </a:ext>
            </a:extLst>
          </p:cNvPr>
          <p:cNvSpPr txBox="1"/>
          <p:nvPr/>
        </p:nvSpPr>
        <p:spPr>
          <a:xfrm>
            <a:off x="3522908" y="290855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600" b="1" cap="all" dirty="0" err="1">
                <a:solidFill>
                  <a:srgbClr val="1F2C8F"/>
                </a:solidFill>
                <a:latin typeface="Arial Black"/>
              </a:rPr>
              <a:t>Lessons</a:t>
            </a:r>
            <a:r>
              <a:rPr lang="de-DE" sz="3600" b="1" cap="all" dirty="0">
                <a:solidFill>
                  <a:srgbClr val="1F2C8F"/>
                </a:solidFill>
                <a:latin typeface="Arial Black"/>
              </a:rPr>
              <a:t> </a:t>
            </a:r>
            <a:r>
              <a:rPr lang="de-DE" sz="3600" b="1" cap="all" dirty="0" err="1">
                <a:solidFill>
                  <a:srgbClr val="1F2C8F"/>
                </a:solidFill>
                <a:latin typeface="Arial Black"/>
              </a:rPr>
              <a:t>learned</a:t>
            </a:r>
            <a:endParaRPr lang="de-DE" sz="3600" b="1" cap="all" dirty="0">
              <a:solidFill>
                <a:srgbClr val="1F2C8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844500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16c05727-aa75-4e4a-9b5f-8a80a1165891"/>
    <ds:schemaRef ds:uri="http://www.w3.org/XML/1998/namespace"/>
    <ds:schemaRef ds:uri="71af3243-3dd4-4a8d-8c0d-dd76da1f02a5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{7411D380-1315-4A74-AF44-76B1E59D7476}tf78438558_win32</Template>
  <TotalTime>0</TotalTime>
  <Words>63</Words>
  <Application>Microsoft Office PowerPoint</Application>
  <PresentationFormat>Breitbild</PresentationFormat>
  <Paragraphs>43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Arial Narrow</vt:lpstr>
      <vt:lpstr>Calibri</vt:lpstr>
      <vt:lpstr>Sabon Next LT</vt:lpstr>
      <vt:lpstr>Benutzerdefiniert</vt:lpstr>
      <vt:lpstr>Web Engineering  Projekt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Live - Demo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Artmann Lara (inf25067)</dc:creator>
  <cp:lastModifiedBy>Stiebitz Paul-Gregor (inf25105)</cp:lastModifiedBy>
  <cp:revision>12</cp:revision>
  <dcterms:created xsi:type="dcterms:W3CDTF">2026-07-11T17:37:13Z</dcterms:created>
  <dcterms:modified xsi:type="dcterms:W3CDTF">2026-07-15T19:12:00Z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